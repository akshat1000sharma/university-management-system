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71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kshat1000Sharma/university-management-syste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kshat1000Sharma/university-management-syste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E6FD9">
              <a:alpha val="18000"/>
            </a:srgbClr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E6FD9">
              <a:alpha val="12000"/>
            </a:srgbClr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PROJECT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Management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47472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80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</a:t>
            </a:r>
            <a:endParaRPr lang="en-US" sz="14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github.com/Akshat1000Sharma/university-management-system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G14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&amp; Contributions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G14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8321040" cy="630936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201168" cy="63093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16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2310110028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Akshat Sharma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130759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D6E8FF"/>
          </a:solidFill>
          <a:ln w="12700">
            <a:solidFill>
              <a:srgbClr val="D6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3167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Lead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9160" y="12344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architecture, JWT security config, REST API design, Swagger docs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828800"/>
            <a:ext cx="832104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828800"/>
            <a:ext cx="201168" cy="630936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9019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2310110062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1031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Goel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199339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D6E8FF"/>
          </a:solidFill>
          <a:ln w="12700">
            <a:solidFill>
              <a:srgbClr val="D6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0025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frontend, authentication flow, role-based dashboards, UI/UX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514600"/>
            <a:ext cx="8321040" cy="630936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514600"/>
            <a:ext cx="201168" cy="63093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5877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2310110402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2788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Awasthi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26080" y="267919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D6E8FF"/>
          </a:solidFill>
          <a:ln w="12700">
            <a:solidFill>
              <a:srgbClr val="D6E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6883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6060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 design, JPA entities, Hibernate ORM, sample data SQL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200400"/>
            <a:ext cx="832104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200400"/>
            <a:ext cx="201168" cy="6309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2735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2310110099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34747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Singh Shekhawat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26080" y="336499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D6E8FF"/>
          </a:solidFill>
          <a:ln w="12700">
            <a:solidFill>
              <a:srgbClr val="D6E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3741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Dev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32918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implementations, business logic, complaint ATR, financial modules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886200"/>
            <a:ext cx="8321040" cy="630936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886200"/>
            <a:ext cx="201168" cy="6309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9593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2310110199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" y="4160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Yadav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26080" y="405079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D6E8FF"/>
          </a:solidFill>
          <a:ln w="12700">
            <a:solidFill>
              <a:srgbClr val="D6E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40599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Testing Lead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39776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unit tests, MockMvc controller tests, Selenium UI test suite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HMS? What problem does it solve?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3931920" cy="3474720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paper-based records for student dues and complaints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oversight across multiple halls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spreadsheets for salary sheets &amp; mess charges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— everyone sees everything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complaint resolution with no ATR tracking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160520" cy="3474720"/>
          </a:xfrm>
          <a:prstGeom prst="rect">
            <a:avLst/>
          </a:prstGeom>
          <a:solidFill>
            <a:srgbClr val="EEF4FF"/>
          </a:solidFill>
          <a:ln w="6350">
            <a:solidFill>
              <a:srgbClr val="1E6F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web platform for all hall operations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role-specific dashboards for 6 user types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financial tracking: dues, payments, grants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complaint system with ATR workflow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occupancy and annual statements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tools across all layers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560320" cy="1508760"/>
          </a:xfrm>
          <a:prstGeom prst="rect">
            <a:avLst/>
          </a:prstGeom>
          <a:solidFill>
            <a:srgbClr val="162D55"/>
          </a:solidFill>
          <a:ln w="10160">
            <a:solidFill>
              <a:srgbClr val="1E6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44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3677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0.12.6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63240" y="1234440"/>
            <a:ext cx="2560320" cy="1508760"/>
          </a:xfrm>
          <a:prstGeom prst="rect">
            <a:avLst/>
          </a:prstGeom>
          <a:solidFill>
            <a:srgbClr val="162D55"/>
          </a:solidFill>
          <a:ln w="10160">
            <a:solidFill>
              <a:srgbClr val="1E6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344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63677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8+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(testing)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domain tables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1234440"/>
            <a:ext cx="2560320" cy="1508760"/>
          </a:xfrm>
          <a:prstGeom prst="rect">
            <a:avLst/>
          </a:prstGeom>
          <a:solidFill>
            <a:srgbClr val="162D55"/>
          </a:solidFill>
          <a:ln w="10160">
            <a:solidFill>
              <a:srgbClr val="1E6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344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63677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2560320" cy="1508760"/>
          </a:xfrm>
          <a:prstGeom prst="rect">
            <a:avLst/>
          </a:prstGeom>
          <a:solidFill>
            <a:srgbClr val="162D55"/>
          </a:solidFill>
          <a:ln w="10160">
            <a:solidFill>
              <a:srgbClr val="1E6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358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2841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(24h expiry)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sessions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63240" y="2926080"/>
            <a:ext cx="2560320" cy="1508760"/>
          </a:xfrm>
          <a:prstGeom prst="rect">
            <a:avLst/>
          </a:prstGeom>
          <a:solidFill>
            <a:srgbClr val="162D55"/>
          </a:solidFill>
          <a:ln w="10160">
            <a:solidFill>
              <a:srgbClr val="1E6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0358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32841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controllers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Chrome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~225 tests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06440" y="2926080"/>
            <a:ext cx="2560320" cy="1508760"/>
          </a:xfrm>
          <a:prstGeom prst="rect">
            <a:avLst/>
          </a:prstGeom>
          <a:solidFill>
            <a:srgbClr val="162D55"/>
          </a:solidFill>
          <a:ln w="10160">
            <a:solidFill>
              <a:srgbClr val="1E6F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0358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332841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21+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20+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wrapper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640080"/>
          </a:xfrm>
          <a:prstGeom prst="rect">
            <a:avLst/>
          </a:prstGeom>
          <a:solidFill>
            <a:srgbClr val="D6E8FF"/>
          </a:solidFill>
          <a:ln w="6350">
            <a:solidFill>
              <a:srgbClr val="1E6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Client  —  Next.js 16 + React 19 + TypeScript + Tailwind CSS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9544" y="1527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 + JWT Bearer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0" y="1755648"/>
            <a:ext cx="5486400" cy="530352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755648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 →  Spring Security Filter Chain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542032"/>
            <a:ext cx="1325880" cy="384048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4203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10512" y="2542032"/>
            <a:ext cx="1325880" cy="384048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0512" y="254203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9544" y="2542032"/>
            <a:ext cx="1325880" cy="384048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9544" y="254203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08576" y="2542032"/>
            <a:ext cx="1325880" cy="384048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254203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07608" y="2542032"/>
            <a:ext cx="1325880" cy="384048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608" y="254203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06640" y="2542032"/>
            <a:ext cx="1325880" cy="384048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54203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92608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3154680"/>
            <a:ext cx="6400800" cy="438912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15468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 —  Business Logic &amp; Rules  (15 Service Implementations)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593592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849624"/>
            <a:ext cx="2926080" cy="438912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84962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Repositories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35424" y="3822192"/>
            <a:ext cx="3200400" cy="4389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84962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8+  —  hms_db  (15 tables)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7680" y="40690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1828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tables managed by Hibernate DDL auto-generation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977640" cy="233172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33272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47672" y="1033272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accounts, BCrypt passwords, role assignments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266444"/>
            <a:ext cx="39776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293876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47672" y="1293876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Role-to-permission mappings (RBAC, 25 mappings)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527048"/>
            <a:ext cx="3977640" cy="233172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554480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47672" y="1554480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halls with amenity charges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1787652"/>
            <a:ext cx="39776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815084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47672" y="1815084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Single/twin-sharing rooms with rent per hall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048256"/>
            <a:ext cx="3977640" cy="233172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075688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47672" y="2075688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 linked to halls and rooms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2308860"/>
            <a:ext cx="39776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336292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47672" y="2336292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assignments to halls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569464"/>
            <a:ext cx="3977640" cy="233172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2596896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mess_managers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47672" y="2596896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manager assignments per hall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2830068"/>
            <a:ext cx="39776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2857500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47672" y="2857500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staff with daily pay rates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1005840"/>
            <a:ext cx="3977640" cy="233172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1033272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staff_leaves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08192" y="1033272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records for salary deduction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1266444"/>
            <a:ext cx="39776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1293876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mess_charges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08192" y="1293876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mess charges per student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1527048"/>
            <a:ext cx="3977640" cy="233172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1554480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08192" y="1554480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complaints with ATR tracking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0" y="1787652"/>
            <a:ext cx="39776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1815084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08192" y="1815084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grant budgets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2048256"/>
            <a:ext cx="3977640" cy="233172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2075688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hall_grants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08192" y="2075688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allocations per hall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0" y="2308860"/>
            <a:ext cx="39776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2336292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08192" y="2336292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expenditure records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0" y="2569464"/>
            <a:ext cx="3977640" cy="233172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2596896"/>
            <a:ext cx="1371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08192" y="2596896"/>
            <a:ext cx="23774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payment records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stateless security with BCrypt password hashing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554480" cy="2651760"/>
          </a:xfrm>
          <a:prstGeom prst="rect">
            <a:avLst/>
          </a:prstGeom>
          <a:solidFill>
            <a:srgbClr val="162D55"/>
          </a:solidFill>
          <a:ln w="8890">
            <a:solidFill>
              <a:srgbClr val="1E6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548640" cy="54864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{ email, password 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1828800"/>
            <a:ext cx="109728" cy="0"/>
          </a:xfrm>
          <a:prstGeom prst="line">
            <a:avLst/>
          </a:prstGeom>
          <a:noFill/>
          <a:ln w="19050">
            <a:solidFill>
              <a:srgbClr val="7EB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4248" y="1188720"/>
            <a:ext cx="1554480" cy="2651760"/>
          </a:xfrm>
          <a:prstGeom prst="rect">
            <a:avLst/>
          </a:prstGeom>
          <a:solidFill>
            <a:srgbClr val="162D55"/>
          </a:solidFill>
          <a:ln w="8890">
            <a:solidFill>
              <a:srgbClr val="1E6F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325880"/>
            <a:ext cx="548640" cy="54864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75688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Verify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75688" y="2377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hashed password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rounds strength)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38728" y="1828800"/>
            <a:ext cx="109728" cy="0"/>
          </a:xfrm>
          <a:prstGeom prst="line">
            <a:avLst/>
          </a:prstGeom>
          <a:noFill/>
          <a:ln w="19050">
            <a:solidFill>
              <a:srgbClr val="7EB3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48456" y="1188720"/>
            <a:ext cx="1554480" cy="2651760"/>
          </a:xfrm>
          <a:prstGeom prst="rect">
            <a:avLst/>
          </a:prstGeom>
          <a:solidFill>
            <a:srgbClr val="162D55"/>
          </a:solidFill>
          <a:ln w="8890">
            <a:solidFill>
              <a:srgbClr val="1E6F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1376" y="1325880"/>
            <a:ext cx="548640" cy="54864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51376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39896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39896" y="2377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token generated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HS256 algorithm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02936" y="1828800"/>
            <a:ext cx="109728" cy="0"/>
          </a:xfrm>
          <a:prstGeom prst="line">
            <a:avLst/>
          </a:prstGeom>
          <a:noFill/>
          <a:ln w="19050">
            <a:solidFill>
              <a:srgbClr val="7EB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12664" y="1188720"/>
            <a:ext cx="1554480" cy="2651760"/>
          </a:xfrm>
          <a:prstGeom prst="rect">
            <a:avLst/>
          </a:prstGeom>
          <a:solidFill>
            <a:srgbClr val="162D55"/>
          </a:solidFill>
          <a:ln w="8890">
            <a:solidFill>
              <a:srgbClr val="1E6F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15584" y="1325880"/>
            <a:ext cx="548640" cy="54864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15584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04104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04104" y="2377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in every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header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67144" y="1828800"/>
            <a:ext cx="109728" cy="0"/>
          </a:xfrm>
          <a:prstGeom prst="line">
            <a:avLst/>
          </a:prstGeom>
          <a:noFill/>
          <a:ln w="19050">
            <a:solidFill>
              <a:srgbClr val="7EB3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76872" y="1188720"/>
            <a:ext cx="1554480" cy="2651760"/>
          </a:xfrm>
          <a:prstGeom prst="rect">
            <a:avLst/>
          </a:prstGeom>
          <a:solidFill>
            <a:srgbClr val="162D55"/>
          </a:solidFill>
          <a:ln w="8890">
            <a:solidFill>
              <a:srgbClr val="1E6F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79792" y="1325880"/>
            <a:ext cx="548640" cy="54864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68312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Validates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68312" y="2377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 checks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request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114800"/>
            <a:ext cx="1600200" cy="658368"/>
          </a:xfrm>
          <a:prstGeom prst="rect">
            <a:avLst/>
          </a:prstGeom>
          <a:solidFill>
            <a:srgbClr val="0F1E38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11480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Sessions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57400" y="4114800"/>
            <a:ext cx="1600200" cy="658368"/>
          </a:xfrm>
          <a:prstGeom prst="rect">
            <a:avLst/>
          </a:prstGeom>
          <a:solidFill>
            <a:srgbClr val="0F1E38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57400" y="411480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:3000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94760" y="4114800"/>
            <a:ext cx="1600200" cy="658368"/>
          </a:xfrm>
          <a:prstGeom prst="rect">
            <a:avLst/>
          </a:prstGeom>
          <a:solidFill>
            <a:srgbClr val="0F1E38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411480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401 → Redirect Login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532120" y="4114800"/>
            <a:ext cx="1600200" cy="658368"/>
          </a:xfrm>
          <a:prstGeom prst="rect">
            <a:avLst/>
          </a:prstGeom>
          <a:solidFill>
            <a:srgbClr val="0F1E38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411480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Public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69480" y="4114800"/>
            <a:ext cx="1600200" cy="658368"/>
          </a:xfrm>
          <a:prstGeom prst="rect">
            <a:avLst/>
          </a:prstGeom>
          <a:solidFill>
            <a:srgbClr val="0F1E38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411480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JWT Secret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 (RBAC)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distinct roles with 25 role-permission mappings — seeded on startup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658368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182880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107899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dues · File complaints · View own payments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09928"/>
            <a:ext cx="832104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709928"/>
            <a:ext cx="18288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83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17830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hall students · Post ATR · View occupancy · Salary sheet · Admit student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414016"/>
            <a:ext cx="8321040" cy="658368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414016"/>
            <a:ext cx="18288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871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CONTROLLING_WARDEN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248716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halls · View all complaints · Overall occupancy overview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118104"/>
            <a:ext cx="832104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18104"/>
            <a:ext cx="1828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912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MESS_MANAGER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319125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monthly mess charges · View payment sheets per hall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22192"/>
            <a:ext cx="8321040" cy="658368"/>
          </a:xfrm>
          <a:prstGeom prst="rect">
            <a:avLst/>
          </a:prstGeom>
          <a:solidFill>
            <a:srgbClr val="F4F7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822192"/>
            <a:ext cx="18288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9534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389534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staff leaves · View salary sheet for payroll processing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526280"/>
            <a:ext cx="832104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526280"/>
            <a:ext cx="18288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5994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HMC_CHAIRMAN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459943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grants · Manage halls &amp; rooms · All expenditures · Allocate grants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040880" y="228600"/>
            <a:ext cx="1691640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228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STUDENT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student@hms.edu  ·  student123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4206240" cy="1737360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Dashboard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welcome screen showing hall name, room number, current session dues summary, and quick-access cards for all modules.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206240" cy="1737360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 View Dues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outstanding dues: rent, mess charges, amenity fees. Real-time calculation via /api/business/student/{id}/dues.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971800"/>
            <a:ext cx="4206240" cy="1737360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File Complaints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new complaints with title and description. Track status (OPEN/RESOLVED) and view warden's Action Taken Report (ATR) responses.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971800"/>
            <a:ext cx="4206240" cy="1737360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Payment History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payment records with date, amount, and payment method. Linked to /api/payments filtered by student ID.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0" y="228600"/>
            <a:ext cx="18745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28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WARDEN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warden@hms.edu  ·  warden123   ·   Per-hall jurisdiction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3931920" cy="713232"/>
          </a:xfrm>
          <a:prstGeom prst="rect">
            <a:avLst/>
          </a:prstGeom>
          <a:solidFill>
            <a:srgbClr val="F4F7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24128"/>
            <a:ext cx="16459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0241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— View all students in assigned hall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931920" cy="713232"/>
          </a:xfrm>
          <a:prstGeom prst="rect">
            <a:avLst/>
          </a:prstGeom>
          <a:solidFill>
            <a:srgbClr val="EEF4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024128"/>
            <a:ext cx="16459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8072" y="10241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Student — Assign room via /api/business/admit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938528"/>
            <a:ext cx="3931920" cy="713232"/>
          </a:xfrm>
          <a:prstGeom prst="rect">
            <a:avLst/>
          </a:prstGeom>
          <a:solidFill>
            <a:srgbClr val="F4F7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938528"/>
            <a:ext cx="16459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19385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(ATR) — Review &amp; post Action Taken Reports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1938528"/>
            <a:ext cx="3931920" cy="713232"/>
          </a:xfrm>
          <a:prstGeom prst="rect">
            <a:avLst/>
          </a:prstGeom>
          <a:solidFill>
            <a:srgbClr val="EEF4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938528"/>
            <a:ext cx="16459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19385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Occupancy — Real-time room occupancy per hall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2852928"/>
            <a:ext cx="3931920" cy="713232"/>
          </a:xfrm>
          <a:prstGeom prst="rect">
            <a:avLst/>
          </a:prstGeom>
          <a:solidFill>
            <a:srgbClr val="F4F7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852928"/>
            <a:ext cx="16459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8529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 — View, add, manage hall staff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852928"/>
            <a:ext cx="3931920" cy="713232"/>
          </a:xfrm>
          <a:prstGeom prst="rect">
            <a:avLst/>
          </a:prstGeom>
          <a:solidFill>
            <a:srgbClr val="EEF4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2852928"/>
            <a:ext cx="16459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28529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Sheet — Auto-generated salary sheet with leave deductions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767328"/>
            <a:ext cx="3931920" cy="713232"/>
          </a:xfrm>
          <a:prstGeom prst="rect">
            <a:avLst/>
          </a:prstGeom>
          <a:solidFill>
            <a:srgbClr val="F4F7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767328"/>
            <a:ext cx="16459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7673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Expenditures — Record and track hall expenditures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767328"/>
            <a:ext cx="3931920" cy="713232"/>
          </a:xfrm>
          <a:prstGeom prst="rect">
            <a:avLst/>
          </a:prstGeom>
          <a:solidFill>
            <a:srgbClr val="EEF4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767328"/>
            <a:ext cx="16459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8072" y="37673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Statement — Full financial overview of the hall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Role Portals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2788920" cy="4069080"/>
          </a:xfrm>
          <a:prstGeom prst="rect">
            <a:avLst/>
          </a:prstGeom>
          <a:solidFill>
            <a:srgbClr val="F3F0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22960"/>
            <a:ext cx="27889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Warden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cwarden@hms.edu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halls at once (cross-hall oversight)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occupancy across all halls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complaints from all halls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hall-specific data editing rights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822960"/>
            <a:ext cx="2788920" cy="4069080"/>
          </a:xfrm>
          <a:prstGeom prst="rect">
            <a:avLst/>
          </a:prstGeom>
          <a:solidFill>
            <a:srgbClr val="FFFBE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822960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822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Manager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47288" y="13990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mess@hms.edu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93008" y="1737360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monthly mess charges per student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per-hall payment sheet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students have paid mess dues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/api/mess-charges &amp; mess-payment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0216" y="822960"/>
            <a:ext cx="2788920" cy="406908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822960"/>
            <a:ext cx="2788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822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Clerk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91656" y="13990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clerk@hms.edu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37376" y="1737360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manage staff leave entries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auto-generated salary sheets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computed: days × daily_rate − leave deductions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/api/staff-leaves &amp; salary-sheet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HMC Chairman Portal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hmc@hms.edu  ·  hmc123  —  Highest administrative role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206240" cy="1783080"/>
          </a:xfrm>
          <a:prstGeom prst="rect">
            <a:avLst/>
          </a:prstGeom>
          <a:solidFill>
            <a:srgbClr val="162D55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annual grants, set budgets, and allocate portions to individual halls. Track grant utilization via /api/grants and /api/hall-grants.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4206240" cy="1783080"/>
          </a:xfrm>
          <a:prstGeom prst="rect">
            <a:avLst/>
          </a:prstGeom>
          <a:solidFill>
            <a:srgbClr val="162D55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&amp; Room Admin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halls and rooms. Manage room types (SINGLE/TWIN), rent rates, capacity, and amenity charge configuration.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3108960"/>
            <a:ext cx="4206240" cy="1783080"/>
          </a:xfrm>
          <a:prstGeom prst="rect">
            <a:avLst/>
          </a:prstGeom>
          <a:solidFill>
            <a:srgbClr val="162D55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73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Oversight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expenditures across all halls. Monitor spending patterns and compare against allocated hall grants for budget compliance.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3108960"/>
            <a:ext cx="4206240" cy="1783080"/>
          </a:xfrm>
          <a:prstGeom prst="rect">
            <a:avLst/>
          </a:prstGeom>
          <a:solidFill>
            <a:srgbClr val="162D55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273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Cross-Hall Student 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VIEW_ALL_STUDENTS permission — see every student across all halls, their room, dues status, and payment history from a single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CRUD resource controllers + 1 Auth controller + business logic endpoints  ·  Swagger UI at :8080/swagger-ui.html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365760"/>
          </a:xfrm>
          <a:prstGeom prst="rect">
            <a:avLst/>
          </a:prstGeom>
          <a:solidFill>
            <a:srgbClr val="F4F7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59436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78992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&amp; receive JWT token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399032"/>
            <a:ext cx="8321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444752"/>
            <a:ext cx="594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447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78992" y="13990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13990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authenticated user profile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1792224"/>
            <a:ext cx="8321040" cy="365760"/>
          </a:xfrm>
          <a:prstGeom prst="rect">
            <a:avLst/>
          </a:prstGeom>
          <a:solidFill>
            <a:srgbClr val="F4F7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837944"/>
            <a:ext cx="59436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3794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8992" y="17922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/api/business/admit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7922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student to hall &amp; room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185416"/>
            <a:ext cx="8321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231136"/>
            <a:ext cx="594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3113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78992" y="21854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/api/business/student/{id}/dues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21854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 dues for student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2578608"/>
            <a:ext cx="8321040" cy="365760"/>
          </a:xfrm>
          <a:prstGeom prst="rect">
            <a:avLst/>
          </a:prstGeom>
          <a:solidFill>
            <a:srgbClr val="F4F7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624328"/>
            <a:ext cx="594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62432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78992" y="25786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/api/business/mess-payment/hall/{id}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25786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payment sheet per hall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2971800"/>
            <a:ext cx="8321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017520"/>
            <a:ext cx="594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175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78992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/api/business/salary-sheet/hall/{id}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2971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sheet with leave deductions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364992"/>
            <a:ext cx="8321040" cy="365760"/>
          </a:xfrm>
          <a:prstGeom prst="rect">
            <a:avLst/>
          </a:prstGeom>
          <a:solidFill>
            <a:srgbClr val="F4F7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410712"/>
            <a:ext cx="594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41071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78992" y="3364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/api/business/occupancy/hall/{id}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63440" y="33649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Hall-level room occupancy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" y="3758184"/>
            <a:ext cx="8321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3803904"/>
            <a:ext cx="594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039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78992" y="375818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/api/business/occupancy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63440" y="37581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All-halls occupancy summary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4151376"/>
            <a:ext cx="8321040" cy="365760"/>
          </a:xfrm>
          <a:prstGeom prst="rect">
            <a:avLst/>
          </a:prstGeom>
          <a:solidFill>
            <a:srgbClr val="F4F7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4197096"/>
            <a:ext cx="59436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19709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78992" y="415137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/api/business/complaints/{id}/atr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663440" y="41513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Action Taken Report on complaint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" y="4544568"/>
            <a:ext cx="8321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" y="4590288"/>
            <a:ext cx="594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59028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078992" y="45445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/api/business/annual-statement/hall/{id}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663440" y="4544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financial statement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+ 13 standard CRUD resources: /api/halls, /api/rooms, /api/students, /api/staff, /api/complaints, /api/payments …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automated test coverage — ~225 tests total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788920" cy="3886200"/>
          </a:xfrm>
          <a:prstGeom prst="rect">
            <a:avLst/>
          </a:prstGeom>
          <a:solidFill>
            <a:srgbClr val="DCFCE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27889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Unit 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 classes for all service impls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database — no MySQL needed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business logic, edge cases &amp; errors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./gradlew test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55848" y="1005840"/>
            <a:ext cx="2788920" cy="3886200"/>
          </a:xfrm>
          <a:prstGeom prst="rect">
            <a:avLst/>
          </a:prstGeom>
          <a:solidFill>
            <a:srgbClr val="DBEAFE"/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55848" y="1005840"/>
            <a:ext cx="27889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4123" y="1554480"/>
            <a:ext cx="13476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178808" y="22402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47288" y="26060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MockMvc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93008" y="2907792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 classes for all REST controllers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HTTP methods, status codes, JSON responses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handling and invalid input validation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service layer for isolation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0216" y="1005840"/>
            <a:ext cx="2788920" cy="3886200"/>
          </a:xfrm>
          <a:prstGeom prst="rect">
            <a:avLst/>
          </a:prstGeom>
          <a:solidFill>
            <a:srgbClr val="F3F0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0216" y="1005840"/>
            <a:ext cx="27889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UI Tests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23176" y="155448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7123176" y="22402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91656" y="26060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ChromeDriver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37376" y="2907792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 &amp; JWT storage in localStorage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 after login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navigation &amp; sign-out flow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backend + frontend both running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E6FD9">
              <a:alpha val="15000"/>
            </a:srgbClr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560320"/>
            <a:ext cx="3474720" cy="3474720"/>
          </a:xfrm>
          <a:prstGeom prst="ellipse">
            <a:avLst/>
          </a:prstGeom>
          <a:solidFill>
            <a:srgbClr val="1E6FD9">
              <a:alpha val="12000"/>
            </a:srgbClr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Management System  —  G14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9050">
            <a:solidFill>
              <a:srgbClr val="1E6FD9"/>
            </a:solidFill>
            <a:prstDash val="solid"/>
          </a:ln>
        </p:spPr>
      </p:sp>
      <p:sp>
        <p:nvSpPr>
          <p:cNvPr id="7" name="Text 5">
            <a:hlinkClick r:id="rId3"/>
          </p:cNvPr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github.com/Akshat1000Sharma/university-management-system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 ·  Next.js 16  ·  MySQL 8  ·  JWT  ·  Selenium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Awasthi  ·  Dev Singh Shekhawat  ·  Arnav Goel  ·  Akshat Sharma  ·  Neeraj Yadav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  —  University Management Systems Course  —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1464</Words>
  <Application>Microsoft Office PowerPoint</Application>
  <PresentationFormat>On-screen Show (16:9)</PresentationFormat>
  <Paragraphs>292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 Management System - HMS</dc:title>
  <dc:subject>PptxGenJS Presentation</dc:subject>
  <dc:creator>PptxGenJS</dc:creator>
  <cp:lastModifiedBy>Akshat Sharma</cp:lastModifiedBy>
  <cp:revision>2</cp:revision>
  <dcterms:created xsi:type="dcterms:W3CDTF">2026-04-20T04:25:57Z</dcterms:created>
  <dcterms:modified xsi:type="dcterms:W3CDTF">2026-04-20T04:30:33Z</dcterms:modified>
</cp:coreProperties>
</file>